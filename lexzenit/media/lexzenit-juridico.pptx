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e687f710-72bf-d7e0-14f3-af8526465880}">
          <p14:sldIdLst>
            <p14:sldId id="256"/>
            <p14:sldId id="257"/>
            <p14:sldId id="258"/>
          </p14:sldIdLst>
        </p14:section>
        <p14:section name="Como funciona" id="{f571d5d8-86f3-d55f-0625-2926b35fb3b8}">
          <p14:sldIdLst>
            <p14:sldId id="259"/>
            <p14:sldId id="260"/>
            <p14:sldId id="261"/>
            <p14:sldId id="262"/>
            <p14:sldId id="263"/>
          </p14:sldIdLst>
        </p14:section>
        <p14:section name="Arquitetura" id="{54a4e753-4aaa-894e-0f4c-3c44ac58a334}">
          <p14:sldIdLst>
            <p14:sldId id="264"/>
            <p14:sldId id="265"/>
          </p14:sldIdLst>
        </p14:section>
        <p14:section name="Cobertura e limites" id="{03269852-43f2-85ef-8ce3-d436e13b3caf}">
          <p14:sldIdLst>
            <p14:sldId id="266"/>
            <p14:sldId id="267"/>
          </p14:sldIdLst>
        </p14:section>
        <p14:section name="Começar" id="{88bd7f08-7edd-8f38-5357-dec4d7070f87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92E3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92E35"/>
                </a:solidFill>
                <a:latin typeface="+mn-lt"/>
              </a:rPr>
              <a:t>Nós do mapa de arquitetura por estado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Nós</c:v>
                </c:pt>
              </c:strCache>
            </c:strRef>
          </c:tx>
          <c:spPr>
            <a:solidFill>
              <a:srgbClr val="0E8C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217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8C4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3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778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4E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3013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Implementado</c:v>
                  </c:pt>
                  <c:pt idx="1">
                    <c:v>Referência conceitual</c:v>
                  </c:pt>
                  <c:pt idx="2">
                    <c:v>Pendente</c:v>
                  </c:pt>
                  <c:pt idx="3">
                    <c:v>Etapa humana</c:v>
                  </c:pt>
                  <c:pt idx="4">
                    <c:v>Não confirmada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</c:v>
                </c:pt>
                <c:pt idx="1">
                  <c:v>7</c:v>
                </c:pt>
                <c:pt idx="2">
                  <c:v>4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217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92E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92E3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92E35"/>
                </a:solidFill>
                <a:latin typeface="+mn-lt"/>
              </a:rPr>
              <a:t>Workflows por plugin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Workflows</c:v>
                </c:pt>
              </c:strCache>
            </c:strRef>
          </c:tx>
          <c:spPr>
            <a:solidFill>
              <a:srgbClr val="0073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217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ITS e cidades inteligentes</c:v>
                  </c:pt>
                  <c:pt idx="1">
                    <c:v>Fundação jurídica e fontes</c:v>
                  </c:pt>
                  <c:pt idx="2">
                    <c:v>Licitações e contratos públicos</c:v>
                  </c:pt>
                  <c:pt idx="3">
                    <c:v>Engenharia de evidências</c:v>
                  </c:pt>
                  <c:pt idx="4">
                    <c:v>Dados pessoais e IA</c:v>
                  </c:pt>
                  <c:pt idx="5">
                    <c:v>Demais 34 áreas (3 a 4 cada)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19</c:v>
                </c:pt>
                <c:pt idx="2">
                  <c:v>17</c:v>
                </c:pt>
                <c:pt idx="3">
                  <c:v>7</c:v>
                </c:pt>
                <c:pt idx="4">
                  <c:v>5</c:v>
                </c:pt>
                <c:pt idx="5">
                  <c:v>106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217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92E3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 skill jurídica da LexZenit é uma camada para o Claude voltada ao Direito brasileiro. O ponto central: todo raciocínio precisa apontar para uma evidência guardada, e o que não foi verificado aparece como não verificado.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resultado real do comando citations sobre o exemplo sintético do pacote. O extrator encontra as três citações com offsets exatos, mas declara o que não conseguiu resolver. Nenhuma delas é marcada como existente: a validação em fonte oficial ainda é um conector pendente.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vêm do catálogo e do relatório de testes do pacote. Os 235 testes provam a engenharia: parsing, hashes, partições, gate. Eles não medem acurácia jurídica.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geral. Não existe um executor ponta a ponta: cada estágio roda por comando próprio. As próximas quatro páginas detalham cada 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cofre é um SQLite de caso único. A primeira busca de um documento recém ingerido retorna zero resultados elegíveis, porque ninguém o revisou ainda. Esse é o comportamento esperado.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Gramática brasileira própria, inspirada no eyecite. Número de processo não identifica uma decisão, e um dígito válido não prova que o processo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chave HMAC tem no mínimo 32 bytes, é criada pelo operador e fica fora do repositório. Pseudônimos ainda são dados protegidos. Nenhum upload está implementado nesta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gate não autentica o responsável institucional nem a inscrição na OAB. O ato externo é um serviço futuro e separado.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conexões mostram integração proposta entre módulos existentes, não um executor ponta a ponta. Na LP o mapa é interativo e cada nó abre o contrato: entradas, saídas, falha e limite.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Contagem direta do JSON da release. Separar implementado de pendente é o ponto da documentação: um nó desenhado não é uma capacidade implementada.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Somando: 22 + 19 + 17 + 7 + 5 + 106 = 176. As 34 áreas restantes somam 106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os limites estão declarados no README, no NOTICE e na política empacotada nos plugins.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casos reais, trabalhe em pasta privada fora do repositório. A pseudonimização exige chave privada criada pelo operador.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Lista tirada do campo not_executed do relatório de testes da versão 0.2.0 e dos nós pendentes da arquitetura.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 próxima ação concreta é instalar o plugin br-legal-engineering ou rodar o CLI com os exemplos sintéticos.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Z 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/export/lockup-white-20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242316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011680"/>
            <a:ext cx="69494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4343400"/>
            <a:ext cx="65836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Z 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pic>
        <p:nvPicPr>
          <p:cNvPr id="3" name="Image 0" descr="/home/claude/work/logo/export/icon-ink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310896" cy="310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32688" y="638251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LexZenit · skill jurídica · v0.2.0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Z Seca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pic>
        <p:nvPicPr>
          <p:cNvPr id="3" name="Image 0" descr="/home/claude/work/logo/export/icon-ink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310896" cy="310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32688" y="638251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LexZenit · skill jurídica · v0.2.0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2011680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Raciocínio jurídico com lastro, do documento à evidência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40080" y="434340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Skill jurídica da LexZenit para o Claude. 39 plugins, 176 workflows de Direito brasileiro e um núcleo local de evidências.</a:t>
            </a:r>
            <a:endParaRPr lang="en-US" sz="1800" dirty="0"/>
          </a:p>
        </p:txBody>
      </p:sp>
      <p:sp>
        <p:nvSpPr>
          <p:cNvPr id="4" name="halo"/>
          <p:cNvSpPr/>
          <p:nvPr/>
        </p:nvSpPr>
        <p:spPr>
          <a:xfrm>
            <a:off x="8183880" y="1371600"/>
            <a:ext cx="3291840" cy="3291840"/>
          </a:xfrm>
          <a:prstGeom prst="ellipse">
            <a:avLst/>
          </a:prstGeom>
          <a:solidFill>
            <a:srgbClr val="F6CE00">
              <a:alpha val="22000"/>
            </a:srgbClr>
          </a:solidFill>
          <a:ln w="12700">
            <a:solidFill>
              <a:srgbClr val="F6CE00">
                <a:alpha val="22000"/>
              </a:srgbClr>
            </a:solidFill>
            <a:prstDash val="solid"/>
          </a:ln>
        </p:spPr>
      </p:sp>
      <p:sp>
        <p:nvSpPr>
          <p:cNvPr id="5" name="sol"/>
          <p:cNvSpPr/>
          <p:nvPr/>
        </p:nvSpPr>
        <p:spPr>
          <a:xfrm>
            <a:off x="8915400" y="1874520"/>
            <a:ext cx="1828800" cy="1828800"/>
          </a:xfrm>
          <a:prstGeom prst="ellipse">
            <a:avLst/>
          </a:prstGeom>
          <a:solidFill>
            <a:srgbClr val="F6CE00"/>
          </a:solidFill>
          <a:ln w="12700">
            <a:solidFill>
              <a:srgbClr val="F6CE00"/>
            </a:solidFill>
            <a:prstDash val="solid"/>
          </a:ln>
        </p:spPr>
      </p:sp>
      <p:pic>
        <p:nvPicPr>
          <p:cNvPr id="6" name="marca LZ" descr="Marca LexZen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325880"/>
            <a:ext cx="4023360" cy="4023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49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VERSÃO 0.2.0 · ADAPTAÇÃO INDEPENDENTE · NÃO É PRODUTO OFICIAL DA ANTHROPIC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Reconhecer uma citação não é confirmá-la</a:t>
            </a:r>
            <a:endParaRPr lang="en-US" sz="3400" dirty="0"/>
          </a:p>
        </p:txBody>
      </p:sp>
      <p:sp>
        <p:nvSpPr>
          <p:cNvPr id="3" name="ponto"/>
          <p:cNvSpPr/>
          <p:nvPr/>
        </p:nvSpPr>
        <p:spPr>
          <a:xfrm>
            <a:off x="548640" y="1527048"/>
            <a:ext cx="128016" cy="128016"/>
          </a:xfrm>
          <a:prstGeom prst="ellipse">
            <a:avLst/>
          </a:prstGeom>
          <a:solidFill>
            <a:srgbClr val="009FEF"/>
          </a:solidFill>
          <a:ln w="12700">
            <a:solidFill>
              <a:srgbClr val="009F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 REAL DO CLI · TEXTO SINTÉTICO</a:t>
            </a:r>
            <a:endParaRPr lang="en-US" sz="1100" dirty="0"/>
          </a:p>
        </p:txBody>
      </p:sp>
      <p:sp>
        <p:nvSpPr>
          <p:cNvPr id="5" name="frase de entrada"/>
          <p:cNvSpPr/>
          <p:nvPr/>
        </p:nvSpPr>
        <p:spPr>
          <a:xfrm>
            <a:off x="548640" y="1874520"/>
            <a:ext cx="11064240" cy="685800"/>
          </a:xfrm>
          <a:prstGeom prst="roundRect">
            <a:avLst>
              <a:gd name="adj" fmla="val 21333"/>
            </a:avLst>
          </a:prstGeom>
          <a:solidFill>
            <a:srgbClr val="EEEBDF"/>
          </a:solidFill>
          <a:ln w="12700">
            <a:solidFill>
              <a:srgbClr val="D4D1C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“O texto menciona a Lei 14.133/21, art. 59, § 4º e STF RE 123.456.”</a:t>
            </a:r>
            <a:endParaRPr lang="en-US" sz="1600" dirty="0"/>
          </a:p>
        </p:txBody>
      </p:sp>
      <p:sp>
        <p:nvSpPr>
          <p:cNvPr id="7" name="citacao-1"/>
          <p:cNvSpPr/>
          <p:nvPr/>
        </p:nvSpPr>
        <p:spPr>
          <a:xfrm>
            <a:off x="548640" y="2834640"/>
            <a:ext cx="3566160" cy="3063240"/>
          </a:xfrm>
          <a:prstGeom prst="roundRect">
            <a:avLst>
              <a:gd name="adj" fmla="val 4776"/>
            </a:avLst>
          </a:prstGeom>
          <a:solidFill>
            <a:srgbClr val="F7F5EC"/>
          </a:solidFill>
          <a:ln w="12700">
            <a:solidFill>
              <a:srgbClr val="D4D1C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normative_reference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83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Lei 14.133/21</a:t>
            </a:r>
            <a:endParaRPr lang="en-US" sz="2400" dirty="0"/>
          </a:p>
        </p:txBody>
      </p:sp>
      <p:sp>
        <p:nvSpPr>
          <p:cNvPr id="10" name="status"/>
          <p:cNvSpPr/>
          <p:nvPr/>
        </p:nvSpPr>
        <p:spPr>
          <a:xfrm>
            <a:off x="822960" y="4069080"/>
            <a:ext cx="3017520" cy="411480"/>
          </a:xfrm>
          <a:prstGeom prst="roundRect">
            <a:avLst>
              <a:gd name="adj" fmla="val 48889"/>
            </a:avLst>
          </a:prstGeom>
          <a:solidFill>
            <a:srgbClr val="F6CE00">
              <a:alpha val="35000"/>
            </a:srgbClr>
          </a:solidFill>
          <a:ln w="12700">
            <a:solidFill>
              <a:srgbClr val="B778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ambiguous_year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17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ano de dois dígitos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57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30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existence_verified: false</a:t>
            </a:r>
            <a:endParaRPr lang="en-US" sz="1200" dirty="0"/>
          </a:p>
        </p:txBody>
      </p:sp>
      <p:sp>
        <p:nvSpPr>
          <p:cNvPr id="14" name="citacao-2"/>
          <p:cNvSpPr/>
          <p:nvPr/>
        </p:nvSpPr>
        <p:spPr>
          <a:xfrm>
            <a:off x="4297680" y="2834640"/>
            <a:ext cx="3566160" cy="3063240"/>
          </a:xfrm>
          <a:prstGeom prst="roundRect">
            <a:avLst>
              <a:gd name="adj" fmla="val 4776"/>
            </a:avLst>
          </a:prstGeom>
          <a:solidFill>
            <a:srgbClr val="F7F5EC"/>
          </a:solidFill>
          <a:ln w="12700">
            <a:solidFill>
              <a:srgbClr val="D4D1C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provision_reference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383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art. 59, § 4º</a:t>
            </a:r>
            <a:endParaRPr lang="en-US" sz="2400" dirty="0"/>
          </a:p>
        </p:txBody>
      </p:sp>
      <p:sp>
        <p:nvSpPr>
          <p:cNvPr id="17" name="status"/>
          <p:cNvSpPr/>
          <p:nvPr/>
        </p:nvSpPr>
        <p:spPr>
          <a:xfrm>
            <a:off x="4572000" y="4069080"/>
            <a:ext cx="3017520" cy="411480"/>
          </a:xfrm>
          <a:prstGeom prst="roundRect">
            <a:avLst>
              <a:gd name="adj" fmla="val 48889"/>
            </a:avLst>
          </a:prstGeom>
          <a:solidFill>
            <a:srgbClr val="F6CE00">
              <a:alpha val="35000"/>
            </a:srgbClr>
          </a:solidFill>
          <a:ln w="12700">
            <a:solidFill>
              <a:srgbClr val="B778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parent_instrument_unresolved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617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norma de origem não resolvida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5257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30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existence_verified: false</a:t>
            </a:r>
            <a:endParaRPr lang="en-US" sz="1200" dirty="0"/>
          </a:p>
        </p:txBody>
      </p:sp>
      <p:sp>
        <p:nvSpPr>
          <p:cNvPr id="21" name="citacao-3"/>
          <p:cNvSpPr/>
          <p:nvPr/>
        </p:nvSpPr>
        <p:spPr>
          <a:xfrm>
            <a:off x="8046720" y="2834640"/>
            <a:ext cx="3566160" cy="3063240"/>
          </a:xfrm>
          <a:prstGeom prst="roundRect">
            <a:avLst>
              <a:gd name="adj" fmla="val 4776"/>
            </a:avLst>
          </a:prstGeom>
          <a:solidFill>
            <a:srgbClr val="F7F5EC"/>
          </a:solidFill>
          <a:ln w="12700">
            <a:solidFill>
              <a:srgbClr val="D4D1C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court_case_reference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383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STF RE 123.456</a:t>
            </a:r>
            <a:endParaRPr lang="en-US" sz="2400" dirty="0"/>
          </a:p>
        </p:txBody>
      </p:sp>
      <p:sp>
        <p:nvSpPr>
          <p:cNvPr id="24" name="status"/>
          <p:cNvSpPr/>
          <p:nvPr/>
        </p:nvSpPr>
        <p:spPr>
          <a:xfrm>
            <a:off x="8321040" y="4069080"/>
            <a:ext cx="3017520" cy="411480"/>
          </a:xfrm>
          <a:prstGeom prst="roundRect">
            <a:avLst>
              <a:gd name="adj" fmla="val 48889"/>
            </a:avLst>
          </a:prstGeom>
          <a:solidFill>
            <a:srgbClr val="F6CE00">
              <a:alpha val="35000"/>
            </a:srgbClr>
          </a:solidFill>
          <a:ln w="12700">
            <a:solidFill>
              <a:srgbClr val="B778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21040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decision_identity_unresolved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617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identidade da decisão não resolvida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5257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30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existence_verified: false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 que a release 0.2.0 entrega</a:t>
            </a:r>
            <a:endParaRPr lang="en-US" sz="3400" dirty="0"/>
          </a:p>
        </p:txBody>
      </p:sp>
      <p:sp>
        <p:nvSpPr>
          <p:cNvPr id="3" name="numero-plugins"/>
          <p:cNvSpPr/>
          <p:nvPr/>
        </p:nvSpPr>
        <p:spPr>
          <a:xfrm>
            <a:off x="548640" y="1600200"/>
            <a:ext cx="3566160" cy="3383280"/>
          </a:xfrm>
          <a:prstGeom prst="roundRect">
            <a:avLst>
              <a:gd name="adj" fmla="val 4324"/>
            </a:avLst>
          </a:prstGeom>
          <a:solidFill>
            <a:srgbClr val="F7F5EC"/>
          </a:solidFill>
          <a:ln w="12700">
            <a:solidFill>
              <a:srgbClr val="D4D1C7"/>
            </a:solidFill>
            <a:prstDash val="solid"/>
          </a:ln>
        </p:spPr>
      </p:sp>
      <p:sp>
        <p:nvSpPr>
          <p:cNvPr id="4" name="ponto"/>
          <p:cNvSpPr/>
          <p:nvPr/>
        </p:nvSpPr>
        <p:spPr>
          <a:xfrm>
            <a:off x="868680" y="1920240"/>
            <a:ext cx="292608" cy="292608"/>
          </a:xfrm>
          <a:prstGeom prst="ellipse">
            <a:avLst/>
          </a:prstGeom>
          <a:solidFill>
            <a:srgbClr val="66DA85"/>
          </a:solidFill>
          <a:ln w="12700">
            <a:solidFill>
              <a:srgbClr val="66DA8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3317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39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520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plugins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77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Um por área do Direito, mais a camada de engenharia de evidências.</a:t>
            </a:r>
            <a:endParaRPr lang="en-US" sz="1400" dirty="0"/>
          </a:p>
        </p:txBody>
      </p:sp>
      <p:sp>
        <p:nvSpPr>
          <p:cNvPr id="8" name="numero-workflows"/>
          <p:cNvSpPr/>
          <p:nvPr/>
        </p:nvSpPr>
        <p:spPr>
          <a:xfrm>
            <a:off x="4297680" y="1600200"/>
            <a:ext cx="3566160" cy="3383280"/>
          </a:xfrm>
          <a:prstGeom prst="roundRect">
            <a:avLst>
              <a:gd name="adj" fmla="val 4324"/>
            </a:avLst>
          </a:prstGeom>
          <a:solidFill>
            <a:srgbClr val="F7F5EC"/>
          </a:solidFill>
          <a:ln w="12700">
            <a:solidFill>
              <a:srgbClr val="D4D1C7"/>
            </a:solidFill>
            <a:prstDash val="solid"/>
          </a:ln>
        </p:spPr>
      </p:sp>
      <p:sp>
        <p:nvSpPr>
          <p:cNvPr id="9" name="ponto"/>
          <p:cNvSpPr/>
          <p:nvPr/>
        </p:nvSpPr>
        <p:spPr>
          <a:xfrm>
            <a:off x="4617720" y="1920240"/>
            <a:ext cx="292608" cy="292608"/>
          </a:xfrm>
          <a:prstGeom prst="ellipse">
            <a:avLst/>
          </a:prstGeom>
          <a:solidFill>
            <a:srgbClr val="009FEF"/>
          </a:solidFill>
          <a:ln w="12700">
            <a:solidFill>
              <a:srgbClr val="009F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3317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176</a:t>
            </a:r>
            <a:endParaRPr lang="en-US" sz="72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520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workflows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977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Cada um com entradas, método, saída e caso negativo no SKILL.md.</a:t>
            </a:r>
            <a:endParaRPr lang="en-US" sz="1400" dirty="0"/>
          </a:p>
        </p:txBody>
      </p:sp>
      <p:sp>
        <p:nvSpPr>
          <p:cNvPr id="13" name="numero-testes aprovados"/>
          <p:cNvSpPr/>
          <p:nvPr/>
        </p:nvSpPr>
        <p:spPr>
          <a:xfrm>
            <a:off x="8046720" y="1600200"/>
            <a:ext cx="3566160" cy="3383280"/>
          </a:xfrm>
          <a:prstGeom prst="roundRect">
            <a:avLst>
              <a:gd name="adj" fmla="val 4324"/>
            </a:avLst>
          </a:prstGeom>
          <a:solidFill>
            <a:srgbClr val="F7F5EC"/>
          </a:solidFill>
          <a:ln w="12700">
            <a:solidFill>
              <a:srgbClr val="D4D1C7"/>
            </a:solidFill>
            <a:prstDash val="solid"/>
          </a:ln>
        </p:spPr>
      </p:sp>
      <p:sp>
        <p:nvSpPr>
          <p:cNvPr id="14" name="ponto"/>
          <p:cNvSpPr/>
          <p:nvPr/>
        </p:nvSpPr>
        <p:spPr>
          <a:xfrm>
            <a:off x="8366760" y="1920240"/>
            <a:ext cx="292608" cy="292608"/>
          </a:xfrm>
          <a:prstGeom prst="ellipse">
            <a:avLst/>
          </a:prstGeom>
          <a:solidFill>
            <a:srgbClr val="C28EFB"/>
          </a:solidFill>
          <a:ln w="12700">
            <a:solidFill>
              <a:srgbClr val="C28E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6760" y="23317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235</a:t>
            </a:r>
            <a:endParaRPr lang="en-US" sz="72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3520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testes aprovados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977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Runtime, repositório, grafo e navegador, no relatório da versão.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Workflows são instruções de análise. Nenhum passou por avaliação semântica nesta versão, e nenhum corpus federal, estadual ou municipal foi ingerido.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Quatro estágios, do arquivo à minuta</a:t>
            </a:r>
            <a:endParaRPr lang="en-US" sz="3400" dirty="0"/>
          </a:p>
        </p:txBody>
      </p:sp>
      <p:sp>
        <p:nvSpPr>
          <p:cNvPr id="3" name="numero-estagio-1"/>
          <p:cNvSpPr/>
          <p:nvPr/>
        </p:nvSpPr>
        <p:spPr>
          <a:xfrm>
            <a:off x="548640" y="1828800"/>
            <a:ext cx="1051560" cy="1051560"/>
          </a:xfrm>
          <a:prstGeom prst="roundRect">
            <a:avLst>
              <a:gd name="adj" fmla="val 15652"/>
            </a:avLst>
          </a:prstGeom>
          <a:solidFill>
            <a:srgbClr val="66DA85"/>
          </a:solidFill>
          <a:ln w="12700">
            <a:solidFill>
              <a:srgbClr val="66DA85"/>
            </a:solidFill>
            <a:prstDash val="solid"/>
          </a:ln>
          <a:effectLst>
            <a:outerShdw sx="100000" sy="100000" kx="0" ky="0" algn="bl" rotWithShape="0" blurRad="101600" dist="38100" dir="5400000">
              <a:srgbClr val="12171B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90" b="1" dirty="0">
                <a:solidFill>
                  <a:srgbClr val="1217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2990" dirty="0"/>
          </a:p>
        </p:txBody>
      </p:sp>
      <p:sp>
        <p:nvSpPr>
          <p:cNvPr id="5" name="seta"/>
          <p:cNvSpPr/>
          <p:nvPr/>
        </p:nvSpPr>
        <p:spPr>
          <a:xfrm>
            <a:off x="1783080" y="2354580"/>
            <a:ext cx="1417320" cy="0"/>
          </a:xfrm>
          <a:prstGeom prst="line">
            <a:avLst/>
          </a:prstGeom>
          <a:noFill/>
          <a:ln w="25400">
            <a:solidFill>
              <a:srgbClr val="A49E92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548640" y="3154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Evidência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Guarda o original com hash, versão e localizador</a:t>
            </a:r>
            <a:endParaRPr lang="en-US" sz="1500" dirty="0"/>
          </a:p>
        </p:txBody>
      </p:sp>
      <p:sp>
        <p:nvSpPr>
          <p:cNvPr id="8" name="numero-estagio-2"/>
          <p:cNvSpPr/>
          <p:nvPr/>
        </p:nvSpPr>
        <p:spPr>
          <a:xfrm>
            <a:off x="3383280" y="1828800"/>
            <a:ext cx="1051560" cy="1051560"/>
          </a:xfrm>
          <a:prstGeom prst="roundRect">
            <a:avLst>
              <a:gd name="adj" fmla="val 15652"/>
            </a:avLst>
          </a:prstGeom>
          <a:solidFill>
            <a:srgbClr val="009FEF"/>
          </a:solidFill>
          <a:ln w="12700">
            <a:solidFill>
              <a:srgbClr val="009F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171B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83280" y="1828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90" b="1" dirty="0">
                <a:solidFill>
                  <a:srgbClr val="1217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2990" dirty="0"/>
          </a:p>
        </p:txBody>
      </p:sp>
      <p:sp>
        <p:nvSpPr>
          <p:cNvPr id="10" name="seta"/>
          <p:cNvSpPr/>
          <p:nvPr/>
        </p:nvSpPr>
        <p:spPr>
          <a:xfrm>
            <a:off x="4617720" y="2354580"/>
            <a:ext cx="1417320" cy="0"/>
          </a:xfrm>
          <a:prstGeom prst="line">
            <a:avLst/>
          </a:prstGeom>
          <a:noFill/>
          <a:ln w="25400">
            <a:solidFill>
              <a:srgbClr val="A49E92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3383280" y="3154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Estrutura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7033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Lê artigo, parágrafo e inciso e reconhece citações</a:t>
            </a:r>
            <a:endParaRPr lang="en-US" sz="1500" dirty="0"/>
          </a:p>
        </p:txBody>
      </p:sp>
      <p:sp>
        <p:nvSpPr>
          <p:cNvPr id="13" name="numero-estagio-3"/>
          <p:cNvSpPr/>
          <p:nvPr/>
        </p:nvSpPr>
        <p:spPr>
          <a:xfrm>
            <a:off x="6217920" y="1828800"/>
            <a:ext cx="1051560" cy="1051560"/>
          </a:xfrm>
          <a:prstGeom prst="roundRect">
            <a:avLst>
              <a:gd name="adj" fmla="val 15652"/>
            </a:avLst>
          </a:prstGeom>
          <a:solidFill>
            <a:srgbClr val="C28EFB"/>
          </a:solidFill>
          <a:ln w="12700">
            <a:solidFill>
              <a:srgbClr val="C28EFB"/>
            </a:solidFill>
            <a:prstDash val="solid"/>
          </a:ln>
          <a:effectLst>
            <a:outerShdw sx="100000" sy="100000" kx="0" ky="0" algn="bl" rotWithShape="0" blurRad="101600" dist="38100" dir="5400000">
              <a:srgbClr val="12171B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17920" y="1828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90" b="1" dirty="0">
                <a:solidFill>
                  <a:srgbClr val="1217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2990" dirty="0"/>
          </a:p>
        </p:txBody>
      </p:sp>
      <p:sp>
        <p:nvSpPr>
          <p:cNvPr id="15" name="seta"/>
          <p:cNvSpPr/>
          <p:nvPr/>
        </p:nvSpPr>
        <p:spPr>
          <a:xfrm>
            <a:off x="7452360" y="2354580"/>
            <a:ext cx="1417320" cy="0"/>
          </a:xfrm>
          <a:prstGeom prst="line">
            <a:avLst/>
          </a:prstGeom>
          <a:noFill/>
          <a:ln w="25400">
            <a:solidFill>
              <a:srgbClr val="A49E92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217920" y="3154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Privacidade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37033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Pseudonimiza localmente por tenant e caso</a:t>
            </a:r>
            <a:endParaRPr lang="en-US" sz="1500" dirty="0"/>
          </a:p>
        </p:txBody>
      </p:sp>
      <p:sp>
        <p:nvSpPr>
          <p:cNvPr id="18" name="numero-estagio-4"/>
          <p:cNvSpPr/>
          <p:nvPr/>
        </p:nvSpPr>
        <p:spPr>
          <a:xfrm>
            <a:off x="9052560" y="1828800"/>
            <a:ext cx="1051560" cy="1051560"/>
          </a:xfrm>
          <a:prstGeom prst="roundRect">
            <a:avLst>
              <a:gd name="adj" fmla="val 15652"/>
            </a:avLst>
          </a:prstGeom>
          <a:solidFill>
            <a:srgbClr val="FF4A63"/>
          </a:solidFill>
          <a:ln w="12700">
            <a:solidFill>
              <a:srgbClr val="FF4A63"/>
            </a:solidFill>
            <a:prstDash val="solid"/>
          </a:ln>
          <a:effectLst>
            <a:outerShdw sx="100000" sy="100000" kx="0" ky="0" algn="bl" rotWithShape="0" blurRad="101600" dist="38100" dir="5400000">
              <a:srgbClr val="12171B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052560" y="1828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90" b="1" dirty="0">
                <a:solidFill>
                  <a:srgbClr val="1217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299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3154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Revisão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37033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Bloqueia lacunas e exige um responsável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Cada estágio é um comando explícito com contrato de entrada, saída e bloqueio. Quando um estágio não consegue provar algo, a lacuna segue na saída.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Evidência: guarde o original antes de interpretar</a:t>
            </a:r>
            <a:endParaRPr lang="en-US" sz="3400" dirty="0"/>
          </a:p>
        </p:txBody>
      </p:sp>
      <p:sp>
        <p:nvSpPr>
          <p:cNvPr id="3" name="numero-estagio-1"/>
          <p:cNvSpPr/>
          <p:nvPr/>
        </p:nvSpPr>
        <p:spPr>
          <a:xfrm>
            <a:off x="548640" y="1508760"/>
            <a:ext cx="777240" cy="777240"/>
          </a:xfrm>
          <a:prstGeom prst="roundRect">
            <a:avLst>
              <a:gd name="adj" fmla="val 21176"/>
            </a:avLst>
          </a:prstGeom>
          <a:solidFill>
            <a:srgbClr val="66DA85"/>
          </a:solidFill>
          <a:ln w="12700">
            <a:solidFill>
              <a:srgbClr val="66DA85"/>
            </a:solidFill>
            <a:prstDash val="solid"/>
          </a:ln>
          <a:effectLst>
            <a:outerShdw sx="100000" sy="100000" kx="0" ky="0" algn="bl" rotWithShape="0" blurRad="101600" dist="38100" dir="5400000">
              <a:srgbClr val="12171B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1217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221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508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 texto entra sem transformação implícita e ganha identidade verificável.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TXT, MD ou XML UTF-8, até 10 MiB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SHA-256, versão e localizador por trecho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Hash divergente ou caso incompatível bloqueia a leitura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Documento sem atestação fica fora da busca padrão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Filtro temporal separa eficácia de conhecimento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6235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runtime/legal_br/store.py</a:t>
            </a:r>
            <a:endParaRPr lang="en-US" sz="1200" dirty="0"/>
          </a:p>
        </p:txBody>
      </p:sp>
      <p:sp>
        <p:nvSpPr>
          <p:cNvPr id="8" name="contrato"/>
          <p:cNvSpPr/>
          <p:nvPr/>
        </p:nvSpPr>
        <p:spPr>
          <a:xfrm>
            <a:off x="6675120" y="1508760"/>
            <a:ext cx="4937760" cy="4526280"/>
          </a:xfrm>
          <a:prstGeom prst="roundRect">
            <a:avLst>
              <a:gd name="adj" fmla="val 3232"/>
            </a:avLst>
          </a:prstGeom>
          <a:solidFill>
            <a:srgbClr val="66DA85">
              <a:alpha val="15000"/>
            </a:srgbClr>
          </a:solidFill>
          <a:ln w="12700">
            <a:solidFill>
              <a:srgbClr val="D4D1C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CONTRATO · COFRE DE EVIDÊNCIAS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148840"/>
            <a:ext cx="4389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Entradas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Texto, origem e identidade declarada.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090672"/>
            <a:ext cx="4389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Saídas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Original, SHA-256, chunks e trilha local.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4032504"/>
            <a:ext cx="4389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Falha e bloqueio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Hash divergente ou caso incompatível bloqueiam leitura.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4974336"/>
            <a:ext cx="4389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Limite declarado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SQLite de caso único; não é armazenamento WORM ou SaaS multi-tenant.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Estrutura: leia o dispositivo inteiro</a:t>
            </a:r>
            <a:endParaRPr lang="en-US" sz="3400" dirty="0"/>
          </a:p>
        </p:txBody>
      </p:sp>
      <p:sp>
        <p:nvSpPr>
          <p:cNvPr id="3" name="numero-estagio-2"/>
          <p:cNvSpPr/>
          <p:nvPr/>
        </p:nvSpPr>
        <p:spPr>
          <a:xfrm>
            <a:off x="548640" y="1508760"/>
            <a:ext cx="777240" cy="777240"/>
          </a:xfrm>
          <a:prstGeom prst="roundRect">
            <a:avLst>
              <a:gd name="adj" fmla="val 21176"/>
            </a:avLst>
          </a:prstGeom>
          <a:solidFill>
            <a:srgbClr val="009FEF"/>
          </a:solidFill>
          <a:ln w="12700">
            <a:solidFill>
              <a:srgbClr val="009F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171B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1217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221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508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LexML preserva a família do artigo; o extrator reconhece citações sem fingir autenticá-las.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Árvore artigo → parágrafo → inciso, com exceções no contexto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Dispositivo grande fica inteiro e sinalizado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Spans exatos com offsets no texto original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Dígito verificador CNJ (módulo 97) e sintaxe ECLI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“Id.”, “supra” e ano incerto ficam sinalizados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6235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runtime/legal_br/lexml.py · citations.py</a:t>
            </a:r>
            <a:endParaRPr lang="en-US" sz="1200" dirty="0"/>
          </a:p>
        </p:txBody>
      </p:sp>
      <p:sp>
        <p:nvSpPr>
          <p:cNvPr id="8" name="contrato"/>
          <p:cNvSpPr/>
          <p:nvPr/>
        </p:nvSpPr>
        <p:spPr>
          <a:xfrm>
            <a:off x="6675120" y="1508760"/>
            <a:ext cx="4937760" cy="4526280"/>
          </a:xfrm>
          <a:prstGeom prst="roundRect">
            <a:avLst>
              <a:gd name="adj" fmla="val 3232"/>
            </a:avLst>
          </a:prstGeom>
          <a:solidFill>
            <a:srgbClr val="009FEF">
              <a:alpha val="15000"/>
            </a:srgbClr>
          </a:solidFill>
          <a:ln w="12700">
            <a:solidFill>
              <a:srgbClr val="D4D1C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CONTRATO · CITAÇÕES BRASILEIRAS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148840"/>
            <a:ext cx="4389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Entradas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Texto original e gramáticas nacionais.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090672"/>
            <a:ext cx="4389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Saídas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Spans exatos, candidatos, checksum e ambiguidades.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4032504"/>
            <a:ext cx="4389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Falha e bloqueio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Ano/autoridade incerta e Id./supra não são resolvidos por palpite.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4974336"/>
            <a:ext cx="4389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Limite declarado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Número de processo não é ID único de decisão; sem consulta externa.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Privacidade: o caso não sai da sua máquina</a:t>
            </a:r>
            <a:endParaRPr lang="en-US" sz="3400" dirty="0"/>
          </a:p>
        </p:txBody>
      </p:sp>
      <p:sp>
        <p:nvSpPr>
          <p:cNvPr id="3" name="numero-estagio-3"/>
          <p:cNvSpPr/>
          <p:nvPr/>
        </p:nvSpPr>
        <p:spPr>
          <a:xfrm>
            <a:off x="548640" y="1508760"/>
            <a:ext cx="777240" cy="777240"/>
          </a:xfrm>
          <a:prstGeom prst="roundRect">
            <a:avLst>
              <a:gd name="adj" fmla="val 21176"/>
            </a:avLst>
          </a:prstGeom>
          <a:solidFill>
            <a:srgbClr val="C28EFB"/>
          </a:solidFill>
          <a:ln w="12700">
            <a:solidFill>
              <a:srgbClr val="C28EFB"/>
            </a:solidFill>
            <a:prstDash val="solid"/>
          </a:ln>
          <a:effectLst>
            <a:outerShdw sx="100000" sy="100000" kx="0" ky="0" algn="bl" rotWithShape="0" blurRad="101600" dist="38100" dir="5400000">
              <a:srgbClr val="12171B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1217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221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508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Detectores locais, união de spans e pseudônimo HMAC por tenant e caso. Toda saída leva egress_authorized = false.</a:t>
            </a:r>
            <a:endParaRPr lang="en-US" sz="1600" dirty="0"/>
          </a:p>
        </p:txBody>
      </p:sp>
      <p:pic>
        <p:nvPicPr>
          <p:cNvPr id="6" name="diagrama fronteira" descr="Diagrama da fronteira de privacidade: tudo local, envio externo bloqueado, NER pende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2377440"/>
            <a:ext cx="8412480" cy="337415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detector por padrões não reconhece nomes. Sem NER embarcado, a revisão humana do risco residual é obrigatória.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Revisão: nada sai sem um responsável</a:t>
            </a:r>
            <a:endParaRPr lang="en-US" sz="3400" dirty="0"/>
          </a:p>
        </p:txBody>
      </p:sp>
      <p:sp>
        <p:nvSpPr>
          <p:cNvPr id="3" name="numero-estagio-4"/>
          <p:cNvSpPr/>
          <p:nvPr/>
        </p:nvSpPr>
        <p:spPr>
          <a:xfrm>
            <a:off x="548640" y="1508760"/>
            <a:ext cx="777240" cy="777240"/>
          </a:xfrm>
          <a:prstGeom prst="roundRect">
            <a:avLst>
              <a:gd name="adj" fmla="val 21176"/>
            </a:avLst>
          </a:prstGeom>
          <a:solidFill>
            <a:srgbClr val="FF4A63"/>
          </a:solidFill>
          <a:ln w="12700">
            <a:solidFill>
              <a:srgbClr val="FF4A63"/>
            </a:solidFill>
            <a:prstDash val="solid"/>
          </a:ln>
          <a:effectLst>
            <a:outerShdw sx="100000" sy="100000" kx="0" ky="0" algn="bl" rotWithShape="0" blurRad="101600" dist="38100" dir="5400000">
              <a:srgbClr val="12171B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1217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221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508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 gate decide entre bloquear e encaminhar; quem libera é uma pessoa.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Resultados tipados e cobertura declarada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Erro ou lacuna crítica não é compensado por média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Revisão profissional na versão exata da minuta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Mudança no documento exige nova revisão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Protocolo, assinatura e pagamento ficam fora do runtime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6235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runtime/lexguard_core/verdict.py</a:t>
            </a:r>
            <a:endParaRPr lang="en-US" sz="1200" dirty="0"/>
          </a:p>
        </p:txBody>
      </p:sp>
      <p:sp>
        <p:nvSpPr>
          <p:cNvPr id="8" name="contrato"/>
          <p:cNvSpPr/>
          <p:nvPr/>
        </p:nvSpPr>
        <p:spPr>
          <a:xfrm>
            <a:off x="6675120" y="1508760"/>
            <a:ext cx="4937760" cy="4526280"/>
          </a:xfrm>
          <a:prstGeom prst="roundRect">
            <a:avLst>
              <a:gd name="adj" fmla="val 3232"/>
            </a:avLst>
          </a:prstGeom>
          <a:solidFill>
            <a:srgbClr val="FF4A63">
              <a:alpha val="15000"/>
            </a:srgbClr>
          </a:solidFill>
          <a:ln w="12700">
            <a:solidFill>
              <a:srgbClr val="D4D1C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CONTRATO · CONTROLE DE LIBERAÇÃO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148840"/>
            <a:ext cx="4389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Entradas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Resultados tipados e cobertura declarada.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090672"/>
            <a:ext cx="4389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Saídas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Bloqueio/revisão; não protocolo automático.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4032504"/>
            <a:ext cx="4389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Falha e bloqueio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Erro ou lacuna crítica não é compensada por média.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4974336"/>
            <a:ext cx="4389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Limite declarado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Gate local herdado; não autentica responsável institucional.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 pipeline de evidências, nó a nó</a:t>
            </a:r>
            <a:endParaRPr lang="en-US" sz="3400" dirty="0"/>
          </a:p>
        </p:txBody>
      </p:sp>
      <p:pic>
        <p:nvPicPr>
          <p:cNvPr id="3" name="mapa pipeline" descr="Mapa React Flow do pipeline de evidências com 14 nó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595360" cy="449201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418320" y="14630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14 nós desta vista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31 nós em 4 vistas no JSON canônico da release.</a:t>
            </a:r>
            <a:endParaRPr lang="en-US" sz="1600" dirty="0"/>
          </a:p>
        </p:txBody>
      </p:sp>
      <p:sp>
        <p:nvSpPr>
          <p:cNvPr id="5" name="legenda"/>
          <p:cNvSpPr/>
          <p:nvPr/>
        </p:nvSpPr>
        <p:spPr>
          <a:xfrm>
            <a:off x="9418320" y="2999232"/>
            <a:ext cx="164592" cy="164592"/>
          </a:xfrm>
          <a:prstGeom prst="ellipse">
            <a:avLst/>
          </a:prstGeom>
          <a:solidFill>
            <a:srgbClr val="0E8C41"/>
          </a:solidFill>
          <a:ln w="12700">
            <a:solidFill>
              <a:srgbClr val="0E8C4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9264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Verde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código local testado</a:t>
            </a:r>
            <a:endParaRPr lang="en-US" sz="1300" dirty="0"/>
          </a:p>
        </p:txBody>
      </p:sp>
      <p:sp>
        <p:nvSpPr>
          <p:cNvPr id="7" name="legenda"/>
          <p:cNvSpPr/>
          <p:nvPr/>
        </p:nvSpPr>
        <p:spPr>
          <a:xfrm>
            <a:off x="9418320" y="3547872"/>
            <a:ext cx="164592" cy="164592"/>
          </a:xfrm>
          <a:prstGeom prst="ellipse">
            <a:avLst/>
          </a:prstGeom>
          <a:solidFill>
            <a:srgbClr val="B77800"/>
          </a:solidFill>
          <a:ln w="12700">
            <a:solidFill>
              <a:srgbClr val="B778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9264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Amarelo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não implementado</a:t>
            </a:r>
            <a:endParaRPr lang="en-US" sz="1300" dirty="0"/>
          </a:p>
        </p:txBody>
      </p:sp>
      <p:sp>
        <p:nvSpPr>
          <p:cNvPr id="9" name="legenda"/>
          <p:cNvSpPr/>
          <p:nvPr/>
        </p:nvSpPr>
        <p:spPr>
          <a:xfrm>
            <a:off x="9418320" y="4096512"/>
            <a:ext cx="164592" cy="164592"/>
          </a:xfrm>
          <a:prstGeom prst="ellipse">
            <a:avLst/>
          </a:prstGeom>
          <a:solidFill>
            <a:srgbClr val="8B4EC4"/>
          </a:solidFill>
          <a:ln w="12700">
            <a:solidFill>
              <a:srgbClr val="8B4EC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9264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Lilás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etapa humana externa</a:t>
            </a:r>
            <a:endParaRPr lang="en-US" sz="1300" dirty="0"/>
          </a:p>
        </p:txBody>
      </p:sp>
      <p:sp>
        <p:nvSpPr>
          <p:cNvPr id="11" name="legenda"/>
          <p:cNvSpPr/>
          <p:nvPr/>
        </p:nvSpPr>
        <p:spPr>
          <a:xfrm>
            <a:off x="9418320" y="4645152"/>
            <a:ext cx="164592" cy="164592"/>
          </a:xfrm>
          <a:prstGeom prst="ellipse">
            <a:avLst/>
          </a:prstGeom>
          <a:solidFill>
            <a:srgbClr val="B77800"/>
          </a:solidFill>
          <a:ln w="12700">
            <a:solidFill>
              <a:srgbClr val="B778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92640" y="4572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Tracejado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conexão planejada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418320" y="5257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Explore as quatro vistas na LP.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 de 31 nós são código testado</a:t>
            </a:r>
            <a:endParaRPr lang="en-US" sz="3400" dirty="0"/>
          </a:p>
        </p:txBody>
      </p:sp>
      <p:graphicFrame>
        <p:nvGraphicFramePr>
          <p:cNvPr id="3" name="grafico estados" descr=""/>
          <p:cNvGraphicFramePr/>
          <p:nvPr/>
        </p:nvGraphicFramePr>
        <p:xfrm>
          <a:off x="548640" y="146304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eitura"/>
          <p:cNvSpPr/>
          <p:nvPr/>
        </p:nvSpPr>
        <p:spPr>
          <a:xfrm>
            <a:off x="7680960" y="1463040"/>
            <a:ext cx="3931920" cy="4480560"/>
          </a:xfrm>
          <a:prstGeom prst="roundRect">
            <a:avLst>
              <a:gd name="adj" fmla="val 3721"/>
            </a:avLst>
          </a:prstGeom>
          <a:solidFill>
            <a:srgbClr val="EEEBDF"/>
          </a:solidFill>
          <a:ln w="12700">
            <a:solidFill>
              <a:srgbClr val="D4D1C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55280" y="1737360"/>
            <a:ext cx="3429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 pendentes</a:t>
            </a:r>
            <a:endParaRPr lang="en-US" sz="36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NER local, validação em fonte oficial, classificador e ato externo.</a:t>
            </a:r>
            <a:endParaRPr lang="en-US" sz="3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 3 etapas humanas são revisões feitas fora do runtime, por quem responde pelo caso.</a:t>
            </a:r>
            <a:endParaRPr lang="en-US" sz="3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referência “Open-ECLI-Utils” não foi localizada; nenhuma dependência foi criada a partir dela.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Onde estão os 176 workflows</a:t>
            </a:r>
            <a:endParaRPr lang="en-US" sz="3400" dirty="0"/>
          </a:p>
        </p:txBody>
      </p:sp>
      <p:graphicFrame>
        <p:nvGraphicFramePr>
          <p:cNvPr id="3" name="grafico cobertura" descr=""/>
          <p:cNvGraphicFramePr/>
          <p:nvPr/>
        </p:nvGraphicFramePr>
        <p:xfrm>
          <a:off x="548640" y="146304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eitura"/>
          <p:cNvSpPr/>
          <p:nvPr/>
        </p:nvSpPr>
        <p:spPr>
          <a:xfrm>
            <a:off x="8412480" y="1463040"/>
            <a:ext cx="3200400" cy="4480560"/>
          </a:xfrm>
          <a:prstGeom prst="roundRect">
            <a:avLst>
              <a:gd name="adj" fmla="val 4571"/>
            </a:avLst>
          </a:prstGeom>
          <a:solidFill>
            <a:srgbClr val="EEEBDF"/>
          </a:solidFill>
          <a:ln w="12700">
            <a:solidFill>
              <a:srgbClr val="D4D1C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0" y="1737360"/>
            <a:ext cx="2697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39 áreas</a:t>
            </a:r>
            <a:endParaRPr lang="en-US" sz="34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Do tributário ao eleitoral, do agronegócio ao militar.</a:t>
            </a:r>
            <a:endParaRPr lang="en-US" sz="3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Três áreas concentram 58 workflows. As demais 34 têm 3 ou 4 cada, e a lista completa está em catalog/skills.json.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 que a skill não faz</a:t>
            </a:r>
            <a:endParaRPr lang="en-US" sz="3400" dirty="0"/>
          </a:p>
        </p:txBody>
      </p:sp>
      <p:sp>
        <p:nvSpPr>
          <p:cNvPr id="3" name="limite-1"/>
          <p:cNvSpPr/>
          <p:nvPr/>
        </p:nvSpPr>
        <p:spPr>
          <a:xfrm>
            <a:off x="548640" y="1463040"/>
            <a:ext cx="3566160" cy="2148840"/>
          </a:xfrm>
          <a:prstGeom prst="roundRect">
            <a:avLst>
              <a:gd name="adj" fmla="val 6809"/>
            </a:avLst>
          </a:prstGeom>
          <a:solidFill>
            <a:srgbClr val="FF4A63">
              <a:alpha val="14000"/>
            </a:srgbClr>
          </a:solidFill>
          <a:ln w="12700">
            <a:solidFill>
              <a:srgbClr val="D4D1C7"/>
            </a:solidFill>
            <a:prstDash val="solid"/>
          </a:ln>
        </p:spPr>
      </p:sp>
      <p:sp>
        <p:nvSpPr>
          <p:cNvPr id="4" name="ponto"/>
          <p:cNvSpPr/>
          <p:nvPr/>
        </p:nvSpPr>
        <p:spPr>
          <a:xfrm>
            <a:off x="822960" y="1764792"/>
            <a:ext cx="182880" cy="182880"/>
          </a:xfrm>
          <a:prstGeom prst="ellipse">
            <a:avLst/>
          </a:prstGeom>
          <a:solidFill>
            <a:srgbClr val="FF4A63"/>
          </a:solidFill>
          <a:ln w="12700">
            <a:solidFill>
              <a:srgbClr val="FF4A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" y="16642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Não autentica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Dígito CNJ válido não prova que o processo existe. A validação em fonte oficial ainda não foi implementada.</a:t>
            </a:r>
            <a:endParaRPr lang="en-US" sz="1400" dirty="0"/>
          </a:p>
        </p:txBody>
      </p:sp>
      <p:sp>
        <p:nvSpPr>
          <p:cNvPr id="7" name="limite-2"/>
          <p:cNvSpPr/>
          <p:nvPr/>
        </p:nvSpPr>
        <p:spPr>
          <a:xfrm>
            <a:off x="4297680" y="1463040"/>
            <a:ext cx="3566160" cy="2148840"/>
          </a:xfrm>
          <a:prstGeom prst="roundRect">
            <a:avLst>
              <a:gd name="adj" fmla="val 6809"/>
            </a:avLst>
          </a:prstGeom>
          <a:solidFill>
            <a:srgbClr val="C28EFB">
              <a:alpha val="14000"/>
            </a:srgbClr>
          </a:solidFill>
          <a:ln w="12700">
            <a:solidFill>
              <a:srgbClr val="D4D1C7"/>
            </a:solidFill>
            <a:prstDash val="solid"/>
          </a:ln>
        </p:spPr>
      </p:sp>
      <p:sp>
        <p:nvSpPr>
          <p:cNvPr id="8" name="ponto"/>
          <p:cNvSpPr/>
          <p:nvPr/>
        </p:nvSpPr>
        <p:spPr>
          <a:xfrm>
            <a:off x="4572000" y="1764792"/>
            <a:ext cx="182880" cy="182880"/>
          </a:xfrm>
          <a:prstGeom prst="ellipse">
            <a:avLst/>
          </a:prstGeom>
          <a:solidFill>
            <a:srgbClr val="C28EFB"/>
          </a:solidFill>
          <a:ln w="12700">
            <a:solidFill>
              <a:srgbClr val="C28E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64608" y="16642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Não garante anonimização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3774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Sem NER embarcado. Ausência de achado não prova ausência de dado pessoal.</a:t>
            </a:r>
            <a:endParaRPr lang="en-US" sz="1400" dirty="0"/>
          </a:p>
        </p:txBody>
      </p:sp>
      <p:sp>
        <p:nvSpPr>
          <p:cNvPr id="11" name="limite-3"/>
          <p:cNvSpPr/>
          <p:nvPr/>
        </p:nvSpPr>
        <p:spPr>
          <a:xfrm>
            <a:off x="8046720" y="1463040"/>
            <a:ext cx="3566160" cy="2148840"/>
          </a:xfrm>
          <a:prstGeom prst="roundRect">
            <a:avLst>
              <a:gd name="adj" fmla="val 6809"/>
            </a:avLst>
          </a:prstGeom>
          <a:solidFill>
            <a:srgbClr val="F6CE00">
              <a:alpha val="14000"/>
            </a:srgbClr>
          </a:solidFill>
          <a:ln w="12700">
            <a:solidFill>
              <a:srgbClr val="D4D1C7"/>
            </a:solidFill>
            <a:prstDash val="solid"/>
          </a:ln>
        </p:spPr>
      </p:sp>
      <p:sp>
        <p:nvSpPr>
          <p:cNvPr id="12" name="ponto"/>
          <p:cNvSpPr/>
          <p:nvPr/>
        </p:nvSpPr>
        <p:spPr>
          <a:xfrm>
            <a:off x="8321040" y="1764792"/>
            <a:ext cx="182880" cy="182880"/>
          </a:xfrm>
          <a:prstGeom prst="ellipse">
            <a:avLst/>
          </a:prstGeom>
          <a:solidFill>
            <a:srgbClr val="F6CE00"/>
          </a:solidFill>
          <a:ln w="12700">
            <a:solidFill>
              <a:srgbClr val="F6CE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13648" y="16642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Não protocola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37744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Peça, assinatura e pagamento ficam fora. O gate só bloqueia ou encaminha.</a:t>
            </a:r>
            <a:endParaRPr lang="en-US" sz="1400" dirty="0"/>
          </a:p>
        </p:txBody>
      </p:sp>
      <p:sp>
        <p:nvSpPr>
          <p:cNvPr id="15" name="limite-4"/>
          <p:cNvSpPr/>
          <p:nvPr/>
        </p:nvSpPr>
        <p:spPr>
          <a:xfrm>
            <a:off x="548640" y="3794760"/>
            <a:ext cx="3566160" cy="2148840"/>
          </a:xfrm>
          <a:prstGeom prst="roundRect">
            <a:avLst>
              <a:gd name="adj" fmla="val 6809"/>
            </a:avLst>
          </a:prstGeom>
          <a:solidFill>
            <a:srgbClr val="009FEF">
              <a:alpha val="14000"/>
            </a:srgbClr>
          </a:solidFill>
          <a:ln w="12700">
            <a:solidFill>
              <a:srgbClr val="D4D1C7"/>
            </a:solidFill>
            <a:prstDash val="solid"/>
          </a:ln>
        </p:spPr>
      </p:sp>
      <p:sp>
        <p:nvSpPr>
          <p:cNvPr id="16" name="ponto"/>
          <p:cNvSpPr/>
          <p:nvPr/>
        </p:nvSpPr>
        <p:spPr>
          <a:xfrm>
            <a:off x="822960" y="4096512"/>
            <a:ext cx="182880" cy="182880"/>
          </a:xfrm>
          <a:prstGeom prst="ellipse">
            <a:avLst/>
          </a:prstGeom>
          <a:solidFill>
            <a:srgbClr val="009FEF"/>
          </a:solidFill>
          <a:ln w="12700">
            <a:solidFill>
              <a:srgbClr val="009F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15568" y="39959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Não prediz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091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Sem classificador treinado e sem taxa de acerto. Nenhum benchmark jurídico executado.</a:t>
            </a:r>
            <a:endParaRPr lang="en-US" sz="1400" dirty="0"/>
          </a:p>
        </p:txBody>
      </p:sp>
      <p:sp>
        <p:nvSpPr>
          <p:cNvPr id="19" name="limite-5"/>
          <p:cNvSpPr/>
          <p:nvPr/>
        </p:nvSpPr>
        <p:spPr>
          <a:xfrm>
            <a:off x="4297680" y="3794760"/>
            <a:ext cx="3566160" cy="2148840"/>
          </a:xfrm>
          <a:prstGeom prst="roundRect">
            <a:avLst>
              <a:gd name="adj" fmla="val 6809"/>
            </a:avLst>
          </a:prstGeom>
          <a:solidFill>
            <a:srgbClr val="66DA85">
              <a:alpha val="14000"/>
            </a:srgbClr>
          </a:solidFill>
          <a:ln w="12700">
            <a:solidFill>
              <a:srgbClr val="D4D1C7"/>
            </a:solidFill>
            <a:prstDash val="solid"/>
          </a:ln>
        </p:spPr>
      </p:sp>
      <p:sp>
        <p:nvSpPr>
          <p:cNvPr id="20" name="ponto"/>
          <p:cNvSpPr/>
          <p:nvPr/>
        </p:nvSpPr>
        <p:spPr>
          <a:xfrm>
            <a:off x="4572000" y="4096512"/>
            <a:ext cx="182880" cy="182880"/>
          </a:xfrm>
          <a:prstGeom prst="ellipse">
            <a:avLst/>
          </a:prstGeom>
          <a:solidFill>
            <a:srgbClr val="66DA85"/>
          </a:solidFill>
          <a:ln w="12700">
            <a:solidFill>
              <a:srgbClr val="66DA8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64608" y="39959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Não substitui a OAB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7091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Identidade e inscrição não são autenticadas. Toda saída depende de revisão profissional.</a:t>
            </a:r>
            <a:endParaRPr lang="en-US" sz="1400" dirty="0"/>
          </a:p>
        </p:txBody>
      </p:sp>
      <p:sp>
        <p:nvSpPr>
          <p:cNvPr id="23" name="limite-6"/>
          <p:cNvSpPr/>
          <p:nvPr/>
        </p:nvSpPr>
        <p:spPr>
          <a:xfrm>
            <a:off x="8046720" y="3794760"/>
            <a:ext cx="3566160" cy="2148840"/>
          </a:xfrm>
          <a:prstGeom prst="roundRect">
            <a:avLst>
              <a:gd name="adj" fmla="val 6809"/>
            </a:avLst>
          </a:prstGeom>
          <a:solidFill>
            <a:srgbClr val="FF4A63">
              <a:alpha val="14000"/>
            </a:srgbClr>
          </a:solidFill>
          <a:ln w="12700">
            <a:solidFill>
              <a:srgbClr val="D4D1C7"/>
            </a:solidFill>
            <a:prstDash val="solid"/>
          </a:ln>
        </p:spPr>
      </p:sp>
      <p:sp>
        <p:nvSpPr>
          <p:cNvPr id="24" name="ponto"/>
          <p:cNvSpPr/>
          <p:nvPr/>
        </p:nvSpPr>
        <p:spPr>
          <a:xfrm>
            <a:off x="8321040" y="4096512"/>
            <a:ext cx="182880" cy="182880"/>
          </a:xfrm>
          <a:prstGeom prst="ellipse">
            <a:avLst/>
          </a:prstGeom>
          <a:solidFill>
            <a:srgbClr val="FF4A63"/>
          </a:solidFill>
          <a:ln w="12700">
            <a:solidFill>
              <a:srgbClr val="FF4A6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13648" y="39959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Não é oficial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7091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Adaptação independente. Não é produto da Anthropic nem cobre todo o Direito homologado.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Dois jeitos de começar</a:t>
            </a:r>
            <a:endParaRPr lang="en-US" sz="3400" dirty="0"/>
          </a:p>
        </p:txBody>
      </p:sp>
      <p:sp>
        <p:nvSpPr>
          <p:cNvPr id="3" name="instalar-1"/>
          <p:cNvSpPr/>
          <p:nvPr/>
        </p:nvSpPr>
        <p:spPr>
          <a:xfrm>
            <a:off x="548640" y="1463040"/>
            <a:ext cx="5440680" cy="4206240"/>
          </a:xfrm>
          <a:prstGeom prst="roundRect">
            <a:avLst>
              <a:gd name="adj" fmla="val 3478"/>
            </a:avLst>
          </a:prstGeom>
          <a:solidFill>
            <a:srgbClr val="66DA85">
              <a:alpha val="14000"/>
            </a:srgbClr>
          </a:solidFill>
          <a:ln w="12700">
            <a:solidFill>
              <a:srgbClr val="D4D1C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Plugin no Claude Code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402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skill é somente leitura e pesquisa e não ganha Bash implicitamente.</a:t>
            </a:r>
            <a:endParaRPr lang="en-US" sz="1400" dirty="0"/>
          </a:p>
        </p:txBody>
      </p:sp>
      <p:sp>
        <p:nvSpPr>
          <p:cNvPr id="6" name="comandos"/>
          <p:cNvSpPr/>
          <p:nvPr/>
        </p:nvSpPr>
        <p:spPr>
          <a:xfrm>
            <a:off x="868680" y="3063240"/>
            <a:ext cx="4800600" cy="2286000"/>
          </a:xfrm>
          <a:prstGeom prst="roundRect">
            <a:avLst>
              <a:gd name="adj" fmla="val 4000"/>
            </a:avLst>
          </a:prstGeom>
          <a:solidFill>
            <a:srgbClr val="12171B"/>
          </a:solidFill>
          <a:ln w="12700">
            <a:solidFill>
              <a:srgbClr val="12171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3200400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/plugin marketplace add /caminho/claude-for-legal-br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/plugin install br-legal-engineering@legal-br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/br-legal-engineering:citations-provenance</a:t>
            </a:r>
            <a:endParaRPr lang="en-US" sz="1100" dirty="0"/>
          </a:p>
        </p:txBody>
      </p:sp>
      <p:sp>
        <p:nvSpPr>
          <p:cNvPr id="8" name="instalar-2"/>
          <p:cNvSpPr/>
          <p:nvPr/>
        </p:nvSpPr>
        <p:spPr>
          <a:xfrm>
            <a:off x="6172200" y="1463040"/>
            <a:ext cx="5440680" cy="4206240"/>
          </a:xfrm>
          <a:prstGeom prst="roundRect">
            <a:avLst>
              <a:gd name="adj" fmla="val 3478"/>
            </a:avLst>
          </a:prstGeom>
          <a:solidFill>
            <a:srgbClr val="009FEF">
              <a:alpha val="14000"/>
            </a:srgbClr>
          </a:solidFill>
          <a:ln w="12700">
            <a:solidFill>
              <a:srgbClr val="D4D1C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 local · Python 3.11+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2402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partir de runtime/. Sem LLM, GPU, API oficial ou banco vetorial.</a:t>
            </a:r>
            <a:endParaRPr lang="en-US" sz="1400" dirty="0"/>
          </a:p>
        </p:txBody>
      </p:sp>
      <p:sp>
        <p:nvSpPr>
          <p:cNvPr id="11" name="comandos"/>
          <p:cNvSpPr/>
          <p:nvPr/>
        </p:nvSpPr>
        <p:spPr>
          <a:xfrm>
            <a:off x="6492240" y="3063240"/>
            <a:ext cx="4800600" cy="2286000"/>
          </a:xfrm>
          <a:prstGeom prst="roundRect">
            <a:avLst>
              <a:gd name="adj" fmla="val 4000"/>
            </a:avLst>
          </a:prstGeom>
          <a:solidFill>
            <a:srgbClr val="12171B"/>
          </a:solidFill>
          <a:ln w="12700">
            <a:solidFill>
              <a:srgbClr val="12171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3200400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legal_br.engine citations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--file examples/engineering/citations.txt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legal_br.engine triage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--file examples/engineering/scores.json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instalação no cliente Claude não foi homologada nesta release. Os comandos são os documentados no README do pacote.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 que ainda não foi executado</a:t>
            </a:r>
            <a:endParaRPr lang="en-US" sz="3400" dirty="0"/>
          </a:p>
        </p:txBody>
      </p:sp>
      <p:sp>
        <p:nvSpPr>
          <p:cNvPr id="3" name="numero-estagio-1"/>
          <p:cNvSpPr/>
          <p:nvPr/>
        </p:nvSpPr>
        <p:spPr>
          <a:xfrm>
            <a:off x="548640" y="1536192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66DA85"/>
          </a:solidFill>
          <a:ln w="12700">
            <a:solidFill>
              <a:srgbClr val="66DA85"/>
            </a:solidFill>
            <a:prstDash val="solid"/>
          </a:ln>
          <a:effectLst>
            <a:outerShdw sx="100000" sy="100000" kx="0" ky="0" algn="bl" rotWithShape="0" blurRad="101600" dist="38100" dir="5400000">
              <a:srgbClr val="12171B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536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1217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612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630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Homologar a instalação no cliente Claude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02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Fluxo de plugin documentado, ainda não executado no cliente oficial.</a:t>
            </a:r>
            <a:endParaRPr lang="en-US" sz="1400" dirty="0"/>
          </a:p>
        </p:txBody>
      </p:sp>
      <p:sp>
        <p:nvSpPr>
          <p:cNvPr id="7" name="numero-estagio-2"/>
          <p:cNvSpPr/>
          <p:nvPr/>
        </p:nvSpPr>
        <p:spPr>
          <a:xfrm>
            <a:off x="6172200" y="1536192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009FEF"/>
          </a:solidFill>
          <a:ln w="12700">
            <a:solidFill>
              <a:srgbClr val="009FEF"/>
            </a:solidFill>
            <a:prstDash val="solid"/>
          </a:ln>
          <a:effectLst>
            <a:outerShdw sx="100000" sy="100000" kx="0" ky="0" algn="bl" rotWithShape="0" blurRad="101600" dist="38100" dir="5400000">
              <a:srgbClr val="12171B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172200" y="1536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1217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612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4630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Avaliar semanticamente os 176 workflows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9202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Hoje são instruções autorais sem benchmark de qualidade jurídica.</a:t>
            </a:r>
            <a:endParaRPr lang="en-US" sz="1400" dirty="0"/>
          </a:p>
        </p:txBody>
      </p:sp>
      <p:sp>
        <p:nvSpPr>
          <p:cNvPr id="11" name="numero-estagio-3"/>
          <p:cNvSpPr/>
          <p:nvPr/>
        </p:nvSpPr>
        <p:spPr>
          <a:xfrm>
            <a:off x="548640" y="3017520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C28EFB"/>
          </a:solidFill>
          <a:ln w="12700">
            <a:solidFill>
              <a:srgbClr val="C28EFB"/>
            </a:solidFill>
            <a:prstDash val="solid"/>
          </a:ln>
          <a:effectLst>
            <a:outerShdw sx="100000" sy="100000" kx="0" ky="0" algn="bl" rotWithShape="0" blurRad="101600" dist="38100" dir="5400000">
              <a:srgbClr val="12171B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4864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1217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612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9443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Treinar e medir NER jurídico em português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40156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adaptador BIO existe; faltam modelo licenciado e avaliação no domínio.</a:t>
            </a:r>
            <a:endParaRPr lang="en-US" sz="1400" dirty="0"/>
          </a:p>
        </p:txBody>
      </p:sp>
      <p:sp>
        <p:nvSpPr>
          <p:cNvPr id="15" name="numero-estagio-4"/>
          <p:cNvSpPr/>
          <p:nvPr/>
        </p:nvSpPr>
        <p:spPr>
          <a:xfrm>
            <a:off x="6172200" y="3017520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F6CE00"/>
          </a:solidFill>
          <a:ln w="12700">
            <a:solidFill>
              <a:srgbClr val="F6CE00"/>
            </a:solidFill>
            <a:prstDash val="solid"/>
          </a:ln>
          <a:effectLst>
            <a:outerShdw sx="100000" sy="100000" kx="0" ky="0" algn="bl" rotWithShape="0" blurRad="101600" dist="38100" dir="5400000">
              <a:srgbClr val="12171B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17220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1217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612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9443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Conectar validação em fonte oficial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40156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Existência, vigência e suporte com prova, sem palpite por parsing.</a:t>
            </a:r>
            <a:endParaRPr lang="en-US" sz="1400" dirty="0"/>
          </a:p>
        </p:txBody>
      </p:sp>
      <p:sp>
        <p:nvSpPr>
          <p:cNvPr id="19" name="numero-estagio-5"/>
          <p:cNvSpPr/>
          <p:nvPr/>
        </p:nvSpPr>
        <p:spPr>
          <a:xfrm>
            <a:off x="548640" y="4498848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FF4A63"/>
          </a:solidFill>
          <a:ln w="12700">
            <a:solidFill>
              <a:srgbClr val="FF4A63"/>
            </a:solidFill>
            <a:prstDash val="solid"/>
          </a:ln>
          <a:effectLst>
            <a:outerShdw sx="100000" sy="100000" kx="0" ky="0" algn="bl" rotWithShape="0" blurRad="101600" dist="38100" dir="5400000">
              <a:srgbClr val="12171B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48640" y="4498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1217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1612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42569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Publicar no GitHub com CI remoto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882896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destino oalexandrebelo/claude-for-legal-br ainda não foi criado.</a:t>
            </a:r>
            <a:endParaRPr lang="en-US" sz="1400" dirty="0"/>
          </a:p>
        </p:txBody>
      </p:sp>
      <p:sp>
        <p:nvSpPr>
          <p:cNvPr id="23" name="numero-estagio-6"/>
          <p:cNvSpPr/>
          <p:nvPr/>
        </p:nvSpPr>
        <p:spPr>
          <a:xfrm>
            <a:off x="6172200" y="4498848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66DA85"/>
          </a:solidFill>
          <a:ln w="12700">
            <a:solidFill>
              <a:srgbClr val="66DA85"/>
            </a:solidFill>
            <a:prstDash val="solid"/>
          </a:ln>
          <a:effectLst>
            <a:outerShdw sx="100000" sy="100000" kx="0" ky="0" algn="bl" rotWithShape="0" blurRad="101600" dist="38100" dir="5400000">
              <a:srgbClr val="12171B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172200" y="4498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1217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</a:t>
            </a:r>
            <a:endParaRPr lang="en-US" sz="1612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442569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Autenticar revisores institucionalmente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882896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Identidade e responsabilidade hoje são etapas humanas externas.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2011680"/>
            <a:ext cx="6949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 raciocínio precisa de lastro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40080" y="434340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Comece pelo estágio um: ingira um texto sintético, rode a busca e veja o resultado vazio. O original foi guardado, mas ninguém o revisou ainda.</a:t>
            </a:r>
            <a:endParaRPr lang="en-US" sz="1800" dirty="0"/>
          </a:p>
        </p:txBody>
      </p:sp>
      <p:sp>
        <p:nvSpPr>
          <p:cNvPr id="4" name="halo"/>
          <p:cNvSpPr/>
          <p:nvPr/>
        </p:nvSpPr>
        <p:spPr>
          <a:xfrm>
            <a:off x="8183880" y="1371600"/>
            <a:ext cx="3291840" cy="3291840"/>
          </a:xfrm>
          <a:prstGeom prst="ellipse">
            <a:avLst/>
          </a:prstGeom>
          <a:solidFill>
            <a:srgbClr val="F6CE00">
              <a:alpha val="22000"/>
            </a:srgbClr>
          </a:solidFill>
          <a:ln w="12700">
            <a:solidFill>
              <a:srgbClr val="F6CE00">
                <a:alpha val="22000"/>
              </a:srgbClr>
            </a:solidFill>
            <a:prstDash val="solid"/>
          </a:ln>
        </p:spPr>
      </p:sp>
      <p:sp>
        <p:nvSpPr>
          <p:cNvPr id="5" name="sol"/>
          <p:cNvSpPr/>
          <p:nvPr/>
        </p:nvSpPr>
        <p:spPr>
          <a:xfrm>
            <a:off x="8915400" y="1874520"/>
            <a:ext cx="1828800" cy="1828800"/>
          </a:xfrm>
          <a:prstGeom prst="ellipse">
            <a:avLst/>
          </a:prstGeom>
          <a:solidFill>
            <a:srgbClr val="F6CE00"/>
          </a:solidFill>
          <a:ln w="12700">
            <a:solidFill>
              <a:srgbClr val="F6CE00"/>
            </a:solidFill>
            <a:prstDash val="solid"/>
          </a:ln>
        </p:spPr>
      </p:sp>
      <p:pic>
        <p:nvPicPr>
          <p:cNvPr id="6" name="marca LZ" descr="Marca LexZen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325880"/>
            <a:ext cx="4023360" cy="4023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49E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LEXZENIT · AB ED&amp;IA SOLUÇÕES EM TECNOLOGIA LTDA. · CNPJ 57.531.384/0001-96 · APACHE-2.0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xZenit">
  <a:themeElements>
    <a:clrScheme name="LexZenit">
      <a:dk1>
        <a:srgbClr val="12171B"/>
      </a:dk1>
      <a:lt1>
        <a:srgbClr val="F7F5EC"/>
      </a:lt1>
      <a:dk2>
        <a:srgbClr val="292E35"/>
      </a:dk2>
      <a:lt2>
        <a:srgbClr val="EEEBDF"/>
      </a:lt2>
      <a:accent1>
        <a:srgbClr val="0E8C41"/>
      </a:accent1>
      <a:accent2>
        <a:srgbClr val="0073C4"/>
      </a:accent2>
      <a:accent3>
        <a:srgbClr val="8B4EC4"/>
      </a:accent3>
      <a:accent4>
        <a:srgbClr val="D3013D"/>
      </a:accent4>
      <a:accent5>
        <a:srgbClr val="B77800"/>
      </a:accent5>
      <a:accent6>
        <a:srgbClr val="66635A"/>
      </a:accent6>
      <a:hlink>
        <a:srgbClr val="0073C4"/>
      </a:hlink>
      <a:folHlink>
        <a:srgbClr val="8B4EC4"/>
      </a:folHlink>
    </a:clrScheme>
    <a:fontScheme name="LexZenit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AB ED&amp;IA Soluções em Tecnologia Ltda.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LexZenit Jurídico</dc:title>
  <dc:subject>Skill jurídica para o Claude · v0.2.0</dc:subject>
  <dc:creator>LexZenit</dc:creator>
  <cp:lastModifiedBy>LexZenit</cp:lastModifiedBy>
  <cp:revision>1</cp:revision>
  <dcterms:created xsi:type="dcterms:W3CDTF">2026-10-16T16:56:58Z</dcterms:created>
  <dcterms:modified xsi:type="dcterms:W3CDTF">2026-10-16T16:56:58Z</dcterms:modified>
</cp:coreProperties>
</file>